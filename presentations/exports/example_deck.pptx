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Deck Dark Table">
    <a:wholeTbl>
      <a:tcTxStyle b="off">
        <a:srgbClr val="F4F7F5"/>
      </a:tcTxStyle>
      <a:tcStyle>
        <a:tcBdr>
          <a:bottom>
            <a:ln w="6350">
              <a:solidFill>
                <a:srgbClr val="28313D"/>
              </a:solidFill>
            </a:ln>
          </a:bottom>
        </a:tcBdr>
        <a:fill>
          <a:solidFill>
            <a:srgbClr val="11161E"/>
          </a:solidFill>
        </a:fill>
      </a:tcStyle>
    </a:wholeTbl>
    <a:band1H>
      <a:tcTxStyle b="off">
        <a:srgbClr val="F4F7F5"/>
      </a:tcTxStyle>
      <a:tcStyle>
        <a:fill>
          <a:solidFill>
            <a:srgbClr val="1A222C"/>
          </a:solidFill>
        </a:fill>
      </a:tcStyle>
    </a:band1H>
    <a:band2H>
      <a:tcTxStyle b="off">
        <a:srgbClr val="F4F7F5"/>
      </a:tcTxStyle>
      <a:tcStyle>
        <a:fill>
          <a:solidFill>
            <a:srgbClr val="11161E"/>
          </a:solidFill>
        </a:fill>
      </a:tcStyle>
    </a:band2H>
    <a:firstRow>
      <a:tcTxStyle b="on">
        <a:srgbClr val="080B0F"/>
      </a:tcTxStyle>
      <a:tcStyle>
        <a:fill>
          <a:solidFill>
            <a:srgbClr val="35C6E8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8" Type="http://schemas.openxmlformats.org/officeDocument/2006/relationships/presProps" Target="presProps.xml" /><Relationship Id="rId9" Type="http://schemas.openxmlformats.org/officeDocument/2006/relationships/viewProps" Target="viewProps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 live in a </a:t>
            </a:r>
            <a:r>
              <a:rPr>
                <a:latin typeface="Consolas"/>
              </a:rPr>
              <a:t>::: {.notes}</a:t>
            </a:r>
            <a:r>
              <a:rPr/>
              <a:t> block and never appear on the slide. This deck is the toolkit’s rendering smoke test — if it builds, your environment can render 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chunk renders through </a:t>
            </a:r>
            <a:r>
              <a:rPr>
                <a:latin typeface="Consolas"/>
              </a:rPr>
              <a:t>deck_mpl.use()</a:t>
            </a:r>
            <a:r>
              <a:rPr/>
              <a:t>, which applies the palette and emits a transparent PNG that composites on the slide ground. Swap the palette in </a:t>
            </a:r>
            <a:r>
              <a:rPr>
                <a:latin typeface="Consolas"/>
              </a:rPr>
              <a:t>assets/deck_mpl.py</a:t>
            </a:r>
            <a:r>
              <a:rPr/>
              <a:t> for your brand.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highlight theme is a Skylighting KDE-format JSON file. Colors here are a generic terminal palette — edit </a:t>
            </a:r>
            <a:r>
              <a:rPr>
                <a:latin typeface="Consolas"/>
              </a:rPr>
              <a:t>themes/deck-code.theme</a:t>
            </a:r>
            <a:r>
              <a:rPr/>
              <a:t> to taste.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a table OR bullets on a slide, not both — pandoc splits a slide that carries a table and a list into two slides. This slide keeps its list in the notes for that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1261872"/>
            <a:ext cx="3840480" cy="1325880"/>
          </a:xfrm>
        </p:spPr>
        <p:txBody>
          <a:bodyPr anchor="t">
            <a:noAutofit/>
          </a:bodyPr>
          <a:lstStyle>
            <a:lvl1pPr marL="0" indent="0" algn="l">
              <a:lnSpc>
                <a:spcPct val="106000"/>
              </a:lnSpc>
              <a:buNone/>
              <a:defRPr sz="3300" b="1">
                <a:solidFill>
                  <a:srgbClr val="F4F7F5"/>
                </a:solidFill>
              </a:defRPr>
            </a:lvl1pPr>
          </a:lstStyle>
          <a:p>
            <a:pPr algn="l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352" y="2542032"/>
            <a:ext cx="4937760" cy="868680"/>
          </a:xfrm>
        </p:spPr>
        <p:txBody>
          <a:bodyPr anchor="t">
            <a:noAutofit/>
          </a:bodyPr>
          <a:lstStyle>
            <a:lvl1pPr marL="0" indent="0" algn="l">
              <a:buNone/>
              <a:defRPr sz="1400">
                <a:solidFill>
                  <a:srgbClr val="AAB3C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tatic Eyebrow (title slide)"/>
          <p:cNvSpPr txBox="1"/>
          <p:nvPr/>
        </p:nvSpPr>
        <p:spPr>
          <a:xfrm>
            <a:off x="585216" y="60350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50" b="1" cap="all" spc="40" dirty="0">
                <a:solidFill>
                  <a:srgbClr val="39A9FF"/>
                </a:solidFill>
                <a:latin typeface="Calibri"/>
              </a:rPr>
              <a:t>EXAMPLE DECK</a:t>
            </a:r>
          </a:p>
        </p:txBody>
      </p:sp>
      <p:sp>
        <p:nvSpPr>
          <p:cNvPr id="8" name="Static Card (title slide)"/>
          <p:cNvSpPr/>
          <p:nvPr/>
        </p:nvSpPr>
        <p:spPr>
          <a:xfrm>
            <a:off x="6080760" y="1078992"/>
            <a:ext cx="2377440" cy="2487168"/>
          </a:xfrm>
          <a:prstGeom prst="roundRect">
            <a:avLst>
              <a:gd name="adj" fmla="val 6000"/>
            </a:avLst>
          </a:prstGeom>
          <a:solidFill>
            <a:srgbClr val="11161E"/>
          </a:solidFill>
          <a:ln w="9525">
            <a:solidFill>
              <a:srgbClr val="28313D"/>
            </a:solidFill>
          </a:ln>
        </p:spPr>
        <p:txBody>
          <a:bodyPr/>
          <a:lstStyle/>
          <a:p/>
        </p:txBody>
      </p:sp>
      <p:sp>
        <p:nvSpPr>
          <p:cNvPr id="9" name="Card Header Tick"/>
          <p:cNvSpPr/>
          <p:nvPr/>
        </p:nvSpPr>
        <p:spPr>
          <a:xfrm>
            <a:off x="6364224" y="1362456"/>
            <a:ext cx="41148" cy="14173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10" name="Card Header"/>
          <p:cNvSpPr txBox="1"/>
          <p:nvPr/>
        </p:nvSpPr>
        <p:spPr>
          <a:xfrm>
            <a:off x="6556248" y="137160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900" b="1" cap="all" spc="60" dirty="0">
                <a:solidFill>
                  <a:srgbClr val="F2A65A"/>
                </a:solidFill>
                <a:latin typeface="Calibri"/>
              </a:rPr>
              <a:t>AGENDA</a:t>
            </a:r>
          </a:p>
        </p:txBody>
      </p:sp>
      <p:sp>
        <p:nvSpPr>
          <p:cNvPr id="11" name="Card Row 01"/>
          <p:cNvSpPr txBox="1"/>
          <p:nvPr/>
        </p:nvSpPr>
        <p:spPr>
          <a:xfrm>
            <a:off x="6400800" y="1709928"/>
            <a:ext cx="1920240" cy="219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en-US" sz="950" b="1" dirty="0">
                <a:solidFill>
                  <a:srgbClr val="F2A65A"/>
                </a:solidFill>
                <a:latin typeface="Consolas"/>
              </a:rPr>
              <a:t>01</a:t>
            </a:r>
            <a:r>
              <a:rPr lang="en-US" sz="1050" b="1" dirty="0">
                <a:solidFill>
                  <a:srgbClr val="F4F7F5"/>
                </a:solidFill>
                <a:latin typeface="Calibri"/>
              </a:rPr>
              <a:t>   overview</a:t>
            </a:r>
          </a:p>
        </p:txBody>
      </p:sp>
      <p:sp>
        <p:nvSpPr>
          <p:cNvPr id="12" name="Card Row 02"/>
          <p:cNvSpPr txBox="1"/>
          <p:nvPr/>
        </p:nvSpPr>
        <p:spPr>
          <a:xfrm>
            <a:off x="6400800" y="2008022"/>
            <a:ext cx="1920240" cy="219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en-US" sz="950" b="1" dirty="0">
                <a:solidFill>
                  <a:srgbClr val="39A9FF"/>
                </a:solidFill>
                <a:latin typeface="Consolas"/>
              </a:rPr>
              <a:t>02</a:t>
            </a:r>
            <a:r>
              <a:rPr lang="en-US" sz="1050" b="1" dirty="0">
                <a:solidFill>
                  <a:srgbClr val="F4F7F5"/>
                </a:solidFill>
                <a:latin typeface="Calibri"/>
              </a:rPr>
              <a:t>   context</a:t>
            </a:r>
          </a:p>
        </p:txBody>
      </p:sp>
      <p:sp>
        <p:nvSpPr>
          <p:cNvPr id="13" name="Card Row 03"/>
          <p:cNvSpPr txBox="1"/>
          <p:nvPr/>
        </p:nvSpPr>
        <p:spPr>
          <a:xfrm>
            <a:off x="6400800" y="2306116"/>
            <a:ext cx="1920240" cy="219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en-US" sz="950" b="1" dirty="0">
                <a:solidFill>
                  <a:srgbClr val="F2A65A"/>
                </a:solidFill>
                <a:latin typeface="Consolas"/>
              </a:rPr>
              <a:t>03</a:t>
            </a:r>
            <a:r>
              <a:rPr lang="en-US" sz="1050" b="1" dirty="0">
                <a:solidFill>
                  <a:srgbClr val="F4F7F5"/>
                </a:solidFill>
                <a:latin typeface="Calibri"/>
              </a:rPr>
              <a:t>   approach</a:t>
            </a:r>
          </a:p>
        </p:txBody>
      </p:sp>
      <p:sp>
        <p:nvSpPr>
          <p:cNvPr id="14" name="Card Row 04"/>
          <p:cNvSpPr txBox="1"/>
          <p:nvPr/>
        </p:nvSpPr>
        <p:spPr>
          <a:xfrm>
            <a:off x="6400800" y="2604211"/>
            <a:ext cx="1920240" cy="219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en-US" sz="950" b="1" dirty="0">
                <a:solidFill>
                  <a:srgbClr val="39A9FF"/>
                </a:solidFill>
                <a:latin typeface="Consolas"/>
              </a:rPr>
              <a:t>04</a:t>
            </a:r>
            <a:r>
              <a:rPr lang="en-US" sz="1050" b="1" dirty="0">
                <a:solidFill>
                  <a:srgbClr val="F4F7F5"/>
                </a:solidFill>
                <a:latin typeface="Calibri"/>
              </a:rPr>
              <a:t>   details</a:t>
            </a:r>
          </a:p>
        </p:txBody>
      </p:sp>
      <p:sp>
        <p:nvSpPr>
          <p:cNvPr id="15" name="Card Row 05"/>
          <p:cNvSpPr txBox="1"/>
          <p:nvPr/>
        </p:nvSpPr>
        <p:spPr>
          <a:xfrm>
            <a:off x="6400800" y="2902305"/>
            <a:ext cx="1920240" cy="219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en-US" sz="950" b="1" dirty="0">
                <a:solidFill>
                  <a:srgbClr val="F2A65A"/>
                </a:solidFill>
                <a:latin typeface="Consolas"/>
              </a:rPr>
              <a:t>05</a:t>
            </a:r>
            <a:r>
              <a:rPr lang="en-US" sz="1050" b="1" dirty="0">
                <a:solidFill>
                  <a:srgbClr val="F4F7F5"/>
                </a:solidFill>
                <a:latin typeface="Calibri"/>
              </a:rPr>
              <a:t>   next steps</a:t>
            </a:r>
          </a:p>
        </p:txBody>
      </p:sp>
      <p:sp>
        <p:nvSpPr>
          <p:cNvPr id="16" name="Card Row 06"/>
          <p:cNvSpPr txBox="1"/>
          <p:nvPr/>
        </p:nvSpPr>
        <p:spPr>
          <a:xfrm>
            <a:off x="6400800" y="3200400"/>
            <a:ext cx="1920240" cy="219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en-US" sz="950" b="1" dirty="0">
                <a:solidFill>
                  <a:srgbClr val="39A9FF"/>
                </a:solidFill>
                <a:latin typeface="Consolas"/>
              </a:rPr>
              <a:t>06</a:t>
            </a:r>
            <a:r>
              <a:rPr lang="en-US" sz="1050" b="1" dirty="0">
                <a:solidFill>
                  <a:srgbClr val="F4F7F5"/>
                </a:solidFill>
                <a:latin typeface="Calibri"/>
              </a:rPr>
              <a:t>   summary</a:t>
            </a:r>
          </a:p>
        </p:txBody>
      </p:sp>
      <p:sp>
        <p:nvSpPr>
          <p:cNvPr id="902" name="Org Credit Line"/>
          <p:cNvSpPr txBox="1"/>
          <p:nvPr/>
        </p:nvSpPr>
        <p:spPr>
          <a:xfrm>
            <a:off x="585216" y="3810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100" b="1" cap="all" spc="200" dirty="0">
                <a:solidFill>
                  <a:srgbClr val="35C6E8"/>
                </a:solidFill>
                <a:latin typeface="Calibri"/>
              </a:rPr>
              <a:t>YOUR ORGANIZATION</a:t>
            </a:r>
          </a:p>
        </p:txBody>
      </p:sp>
      <p:sp>
        <p:nvSpPr>
          <p:cNvPr id="903" name="Presenter Line"/>
          <p:cNvSpPr txBox="1"/>
          <p:nvPr/>
        </p:nvSpPr>
        <p:spPr>
          <a:xfrm>
            <a:off x="585216" y="4090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200" spc="0" dirty="0">
                <a:solidFill>
                  <a:srgbClr val="F4F7F5"/>
                </a:solidFill>
                <a:latin typeface="Calibri"/>
              </a:rPr>
              <a:t>Presenter Name — Title</a:t>
            </a:r>
          </a:p>
        </p:txBody>
      </p:sp>
      <p:sp>
        <p:nvSpPr>
          <p:cNvPr id="904" name="Contributors Line"/>
          <p:cNvSpPr txBox="1"/>
          <p:nvPr/>
        </p:nvSpPr>
        <p:spPr>
          <a:xfrm>
            <a:off x="585216" y="4340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00" spc="0" dirty="0">
                <a:solidFill>
                  <a:srgbClr val="AAB3C2"/>
                </a:solidFill>
                <a:latin typeface="Calibri"/>
              </a:rPr>
              <a:t>contributors: your team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502920"/>
            <a:ext cx="7498079" cy="658368"/>
          </a:xfrm>
        </p:spPr>
        <p:txBody>
          <a:bodyPr>
            <a:noAutofit/>
          </a:bodyPr>
          <a:lstStyle>
            <a:lvl1pPr marL="0" indent="0" algn="l">
              <a:buNone/>
              <a:defRPr sz="2600" b="1">
                <a:solidFill>
                  <a:srgbClr val="F4F7F5"/>
                </a:solidFill>
              </a:defRPr>
            </a:lvl1pPr>
          </a:lstStyle>
          <a:p>
            <a:pPr algn="l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52" y="1481328"/>
            <a:ext cx="8092440" cy="3017520"/>
          </a:xfrm>
          <a:prstGeom prst="rect">
            <a:avLst/>
          </a:prstGeom>
          <a:noFill/>
          <a:ln>
            <a:noFill/>
          </a:ln>
        </p:spPr>
        <p:txBody>
          <a:bodyPr lIns="256032" rIns="228600" tIns="201168" bIns="201168">
            <a:noAutofit/>
          </a:bodyPr>
          <a:lstStyle>
            <a:lvl1pPr>
              <a:defRPr sz="1200">
                <a:solidFill>
                  <a:srgbClr val="F4F7F5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tatic Eyebrow (title and content)"/>
          <p:cNvSpPr txBox="1"/>
          <p:nvPr/>
        </p:nvSpPr>
        <p:spPr>
          <a:xfrm>
            <a:off x="5852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50" b="1" cap="all" spc="40" dirty="0">
                <a:solidFill>
                  <a:srgbClr val="39A9FF"/>
                </a:solidFill>
                <a:latin typeface="Calibri"/>
              </a:rPr>
              <a:t>EXAMPLE DECK</a:t>
            </a:r>
          </a:p>
        </p:txBody>
      </p:sp>
      <p:sp>
        <p:nvSpPr>
          <p:cNvPr id="8" name="Title Underline Accent (tac)"/>
          <p:cNvSpPr/>
          <p:nvPr/>
        </p:nvSpPr>
        <p:spPr>
          <a:xfrm>
            <a:off x="585216" y="1243584"/>
            <a:ext cx="640080" cy="32004"/>
          </a:xfrm>
          <a:prstGeom prst="rect">
            <a:avLst/>
          </a:prstGeom>
          <a:solidFill>
            <a:srgbClr val="39A9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502920"/>
            <a:ext cx="7498079" cy="658368"/>
          </a:xfrm>
        </p:spPr>
        <p:txBody>
          <a:bodyPr>
            <a:noAutofit/>
          </a:bodyPr>
          <a:lstStyle>
            <a:lvl1pPr marL="0" indent="0" algn="l">
              <a:buNone/>
              <a:defRPr sz="2600" b="1">
                <a:solidFill>
                  <a:srgbClr val="F4F7F5"/>
                </a:solidFill>
              </a:defRPr>
            </a:lvl1pPr>
          </a:lstStyle>
          <a:p>
            <a:pPr algn="l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5216" y="1481328"/>
            <a:ext cx="4297680" cy="292608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rgbClr val="AAB3C2"/>
                </a:solidFill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l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240" y="1325880"/>
            <a:ext cx="3200400" cy="3063240"/>
          </a:xfrm>
          <a:prstGeom prst="roundRect">
            <a:avLst>
              <a:gd name="adj" fmla="val 6000"/>
            </a:avLst>
          </a:prstGeom>
          <a:solidFill>
            <a:srgbClr val="11161E"/>
          </a:solidFill>
          <a:ln w="9525">
            <a:solidFill>
              <a:srgbClr val="28313D"/>
            </a:solidFill>
          </a:ln>
        </p:spPr>
        <p:txBody>
          <a:bodyPr lIns="292608" rIns="228600" tIns="256032" bIns="256032">
            <a:noAutofit/>
          </a:bodyPr>
          <a:lstStyle>
            <a:lvl1pPr marL="0" indent="0" algn="l">
              <a:spcBef>
                <a:spcPts val="900"/>
              </a:spcBef>
              <a:buNone/>
              <a:defRPr sz="1300">
                <a:solidFill>
                  <a:srgbClr val="F4F7F5"/>
                </a:solidFill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l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atic Eyebrow (two content)"/>
          <p:cNvSpPr txBox="1"/>
          <p:nvPr/>
        </p:nvSpPr>
        <p:spPr>
          <a:xfrm>
            <a:off x="5852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50" b="1" cap="all" spc="40" dirty="0">
                <a:solidFill>
                  <a:srgbClr val="39A9FF"/>
                </a:solidFill>
                <a:latin typeface="Calibri"/>
              </a:rPr>
              <a:t>EXAMPLE DECK</a:t>
            </a:r>
          </a:p>
        </p:txBody>
      </p:sp>
      <p:sp>
        <p:nvSpPr>
          <p:cNvPr id="9" name="Title Underline Accent"/>
          <p:cNvSpPr/>
          <p:nvPr/>
        </p:nvSpPr>
        <p:spPr>
          <a:xfrm>
            <a:off x="585216" y="1243584"/>
            <a:ext cx="640080" cy="32004"/>
          </a:xfrm>
          <a:prstGeom prst="rect">
            <a:avLst/>
          </a:prstGeom>
          <a:solidFill>
            <a:srgbClr val="39A9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ccent Bar Cyan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9A9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8" name="Accent Bar Orange"/>
          <p:cNvSpPr/>
          <p:nvPr/>
        </p:nvSpPr>
        <p:spPr>
          <a:xfrm>
            <a:off x="0" y="45720"/>
            <a:ext cx="9144000" cy="16459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9" name="Static Footer Label"/>
          <p:cNvSpPr txBox="1"/>
          <p:nvPr/>
        </p:nvSpPr>
        <p:spPr>
          <a:xfrm>
            <a:off x="585216" y="4736592"/>
            <a:ext cx="4114800" cy="256032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 algn="l"/>
            <a:r>
              <a:rPr b="1" cap="all" dirty="0" lang="en-US" spc="60" sz="900">
                <a:solidFill>
                  <a:srgbClr val="697586"/>
                </a:solidFill>
                <a:latin typeface="Calibri"/>
              </a:rPr>
              <a:t>SECTION LABEL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1261872"/>
            <a:ext cx="3840480" cy="13258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Example Deck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530352" y="2542032"/>
            <a:ext cx="4937760" cy="8686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generic starting point for markdown-source presentations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502920"/>
            <a:ext cx="7498079" cy="65836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bullet slide is just a heading and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Each </a:t>
            </a:r>
            <a:r>
              <a:rPr>
                <a:latin typeface="Consolas"/>
              </a:rPr>
              <a:t>## Heading</a:t>
            </a:r>
            <a:r>
              <a:rPr/>
              <a:t> starts a new slide at </a:t>
            </a:r>
            <a:r>
              <a:rPr>
                <a:latin typeface="Consolas"/>
              </a:rPr>
              <a:t>slide-level: 2</a:t>
            </a:r>
          </a:p>
          <a:p>
            <a:pPr lvl="0"/>
            <a:r>
              <a:rPr/>
              <a:t>Keep one idea per slide; write the title as a claim, not a label</a:t>
            </a:r>
          </a:p>
          <a:p>
            <a:pPr lvl="0"/>
            <a:r>
              <a:rPr/>
              <a:t>Put the narrative in speaker notes, not on the 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502920"/>
            <a:ext cx="7498079" cy="65836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Figures come from executable Python chunks</a:t>
            </a:r>
          </a:p>
        </p:txBody>
      </p:sp>
      <p:pic>
        <p:nvPicPr>
          <p:cNvPr descr="example_deck_files/figure-pptx/cell-2-output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98500" y="1473200"/>
            <a:ext cx="7747000" cy="300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502920"/>
            <a:ext cx="7498079" cy="65836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Code blocks carry syntax highlighting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97586"/>
                </a:solidFill>
                <a:latin typeface="Consolas"/>
              </a:rPr>
              <a:t># rendered with the deck-code highlight theme</a:t>
            </a:r>
            <a:br/>
            <a:r>
              <a:rPr>
                <a:solidFill>
                  <a:srgbClr val="F5F7FA"/>
                </a:solidFill>
                <a:latin typeface="Consolas"/>
              </a:rPr>
              <a:t>render()</a:t>
            </a:r>
            <a:r>
              <a:rPr>
                <a:solidFill>
                  <a:srgbClr val="57C88A"/>
                </a:solidFill>
                <a:latin typeface="Consolas"/>
              </a:rPr>
              <a:t> </a:t>
            </a:r>
            <a:r>
              <a:rPr b="1">
                <a:solidFill>
                  <a:srgbClr val="4FD1A1"/>
                </a:solidFill>
                <a:latin typeface="Consolas"/>
              </a:rPr>
              <a:t>{</a:t>
            </a:r>
            <a:br/>
            <a:r>
              <a:rPr>
                <a:solidFill>
                  <a:srgbClr val="57C88A"/>
                </a:solidFill>
                <a:latin typeface="Consolas"/>
              </a:rPr>
              <a:t>  quarto render deck.qmd --to pptx</a:t>
            </a:r>
            <a:br/>
            <a:r>
              <a:rPr b="1">
                <a:solidFill>
                  <a:srgbClr val="4FD1A1"/>
                </a:solidFill>
                <a:latin typeface="Consolas"/>
              </a:rPr>
              <a:t>}</a:t>
            </a:r>
          </a:p>
          <a:p>
            <a:pPr lvl="0"/>
            <a:r>
              <a:rPr/>
              <a:t>Fenced code blocks pick up </a:t>
            </a:r>
            <a:r>
              <a:rPr>
                <a:latin typeface="Consolas"/>
              </a:rPr>
              <a:t>highlight-style</a:t>
            </a:r>
            <a:r>
              <a:rPr/>
              <a:t> from the front matter</a:t>
            </a:r>
          </a:p>
          <a:p>
            <a:pPr lvl="0"/>
            <a:r>
              <a:rPr/>
              <a:t>Monospace font is set by </a:t>
            </a:r>
            <a:r>
              <a:rPr>
                <a:latin typeface="Consolas"/>
              </a:rPr>
              <a:t>monofont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502920"/>
            <a:ext cx="7498079" cy="65836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Tables render natively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20700" y="1473200"/>
          <a:ext cx="8089900" cy="300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400"/>
                <a:gridCol w="2692400"/>
                <a:gridCol w="2692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Front-matter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Template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reference-doc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</a:t>
                      </a:r>
                      <a:r>
                        <a:rPr>
                          <a:latin typeface="Consolas"/>
                        </a:rPr>
                        <a:t>.pptx</a:t>
                      </a:r>
                      <a:r>
                        <a:rPr/>
                        <a:t> with masters and layouts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 colors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highlight-style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</a:t>
                      </a:r>
                      <a:r>
                        <a:rPr>
                          <a:latin typeface="Consolas"/>
                        </a:rPr>
                        <a:t>.theme</a:t>
                      </a:r>
                      <a:r>
                        <a:rPr/>
                        <a:t> file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Mono font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monofont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e.g. Consolas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F4F7F5"/>
      </a:dk1>
      <a:lt1>
        <a:srgbClr val="080B0F"/>
      </a:lt1>
      <a:dk2>
        <a:srgbClr val="AAB3C2"/>
      </a:dk2>
      <a:lt2>
        <a:srgbClr val="11161E"/>
      </a:lt2>
      <a:accent1>
        <a:srgbClr val="35C6E8"/>
      </a:accent1>
      <a:accent2>
        <a:srgbClr val="F2A65A"/>
      </a:accent2>
      <a:accent3>
        <a:srgbClr val="55F78A"/>
      </a:accent3>
      <a:accent4>
        <a:srgbClr val="4FD1A1"/>
      </a:accent4>
      <a:accent5>
        <a:srgbClr val="697586"/>
      </a:accent5>
      <a:accent6>
        <a:srgbClr val="1F6B49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Deck</dc:title>
  <dc:creator/>
  <cp:keywords/>
  <dcterms:created xsi:type="dcterms:W3CDTF">2026-07-20T19:31:49Z</dcterms:created>
  <dcterms:modified xsi:type="dcterms:W3CDTF">2026-07-20T19:31:49Z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execute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jupyter">
    <vt:lpwstr>python3</vt:lpwstr>
  </property>
  <property fmtid="{D5CDD505-2E9C-101B-9397-08002B2CF9AE}" pid="9" name="labels">
    <vt:lpwstr/>
  </property>
  <property fmtid="{D5CDD505-2E9C-101B-9397-08002B2CF9AE}" pid="10" name="monofont">
    <vt:lpwstr>Consolas</vt:lpwstr>
  </property>
  <property fmtid="{D5CDD505-2E9C-101B-9397-08002B2CF9AE}" pid="11" name="subtitle">
    <vt:lpwstr>A generic starting point for markdown-source presentations</vt:lpwstr>
  </property>
  <property fmtid="{D5CDD505-2E9C-101B-9397-08002B2CF9AE}" pid="12" name="toc-title">
    <vt:lpwstr>Table of contents</vt:lpwstr>
  </property>
</Properties>
</file>